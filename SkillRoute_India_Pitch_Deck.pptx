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excited to present SkillRoute India.</a:t>
            </a:r>
          </a:p>
          <a:p/>
          <a:p>
            <a:r>
              <a:t>India is the global hub for engineering talent, with over 2,000 Global Capability Centers (GCCs) setting up in Bengaluru, Hyderabad, and Pune. Yet 80% of engineers fail technical screens. Not because they lack drive, but because they learn skills in the wrong dependency order.</a:t>
            </a:r>
          </a:p>
          <a:p/>
          <a:p>
            <a:r>
              <a:t>SkillRoute India solves this using Neo4j property graphs for topological prerequisite logic, coupled with Google Gemini 1.5 for grounded career navigation. Our system is already live on Render, fully seeded,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why this problem is urgent right now.</a:t>
            </a:r>
          </a:p>
          <a:p/>
          <a:p>
            <a:r>
              <a:t>India produces 1.5 million engineers every year. At the same time, companies like Goldman Sachs, Google, Microsoft, and JP Morgan have built massive GCC hubs in Bangalore, Hyderabad, and Pune.</a:t>
            </a:r>
          </a:p>
          <a:p/>
          <a:p>
            <a:r>
              <a:t>Yet engineering graduates and mid-level devs are getting rejected in droves. Why? Because they are stuck in 'Tutorial Hell'. A student wants to be an AI Engineer, so they follow a YouTube video on LangChain — without knowing Docker, vector databases, or asynchronous Python. When an interviewer asks them how to handle latency or concurrency, they crash.</a:t>
            </a:r>
          </a:p>
          <a:p/>
          <a:p>
            <a:r>
              <a:t>Skills in computer science form a directed acyclic graph, not a linear playlist. Flat platforms don't model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technical thesis of our hackathon entry: Why did we use Neo4j instead of just asking ChatGPT or doing vector search?</a:t>
            </a:r>
          </a:p>
          <a:p/>
          <a:p>
            <a:r>
              <a:t>If you ask an LLM or Vector RAG for a career roadmap, it gives you a generic bullet list. If you ask again tomorrow, it gives a different order. LLMs have no concept of graph DAGs or mathematical topological order.</a:t>
            </a:r>
          </a:p>
          <a:p/>
          <a:p>
            <a:r>
              <a:t>Furthermore, Vector search looks for semantic similarity — so Docker and Kubernetes are close in embedding space. But that doesn't tell you Docker MUST be learned before Kubernetes!</a:t>
            </a:r>
          </a:p>
          <a:p/>
          <a:p>
            <a:r>
              <a:t>Neo4j provides the ground truth: directed edges model strict dependencies. Then, we use Gemini strictly in an advisory role, grounded on the graph facts. This gives users 100% reliable roadmaps.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SkillRoute India is organized around four clear product pillars:</a:t>
            </a:r>
          </a:p>
          <a:p/>
          <a:p>
            <a:r>
              <a:t>1. Prerequisite Knowledge Graph: We model roles, skills, and resources as a connected graph.</a:t>
            </a:r>
          </a:p>
          <a:p>
            <a:r>
              <a:t>2. Real-Time Gap Engine: When a user clicks 'I know this skill', the platform instantly recalculates their readiness percentage, unblocks next-level skills, and recalculates remaining study hours.</a:t>
            </a:r>
          </a:p>
          <a:p>
            <a:r>
              <a:t>3. Grounded Gemini AI Coach: An intelligent assistant that doesn't hallucinate. It reads the user's specific graph state and gives concrete tactical advice.</a:t>
            </a:r>
          </a:p>
          <a:p>
            <a:r>
              <a:t>4. GCC Market Lab: Clear transparency into real Indian compensation numbers, location clusters, and interview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diagram on the right.</a:t>
            </a:r>
          </a:p>
          <a:p/>
          <a:p>
            <a:r>
              <a:t>The user interacts with our modern React 19 frontend built with Vite and Tailwind CSS. Every action talks to our FastAPI backend. FastAPI queries our Neo4j AuraDB instance using strict parameterized Cypher — never raw string concatenation.</a:t>
            </a:r>
          </a:p>
          <a:p/>
          <a:p>
            <a:r>
              <a:t>When the user requests AI career guidance, FastAPI extracts the exact missing skills, completed skills, and blockers from Neo4j, and injects that verified context into Gemini 1.5 Flash. Crucially, Gemini is never permitted to write or execute Cypher directly. This guarantees enterprise-grade safety.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often ask about our graph schema. Here is the formal property graph design:</a:t>
            </a:r>
          </a:p>
          <a:p/>
          <a:p>
            <a:r>
              <a:t>We have 3 core nodes: Role, Skill, and Resource. The magic happens in the relationships: Role REQUIRES Skill, Skill DEPENDS_ON Skill, and Resource TEACHES Skill.</a:t>
            </a:r>
          </a:p>
          <a:p/>
          <a:p>
            <a:r>
              <a:t>On the right, you see our parameterized Cypher query. We query skills and their direct prerequisites in a single round-trip. Because our dependency edges are directed DAGs, we can compute Kahn's topological sort and immediately tell the learner which node is actionable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heart of the user experience: our interactive topological roadmap.</a:t>
            </a:r>
          </a:p>
          <a:p/>
          <a:p>
            <a:r>
              <a:t>As seen in this screenshot from our live app, the roadmap organizes skills into clear topological stages. A user can never be confused about what to study first. If they mark 'TypeScript' as done, all downstream skills that depend on TypeScript light up as unlocked, and their readiness score jumps from 25% to 45%.</a:t>
            </a:r>
          </a:p>
          <a:p/>
          <a:p>
            <a:r>
              <a:t>Everything updates dynamically with zero page reloads.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let's look at our AI Career Coach powered by Google Gemini 1.5 Flash.</a:t>
            </a:r>
          </a:p>
          <a:p/>
          <a:p>
            <a:r>
              <a:t>Notice in the screenshot how the coach speaks with precise authority: it knows the user's role is Full-Stack Web Engineer, it knows their readiness is 25%, and it specifically identifies their exact next learning milestone.</a:t>
            </a:r>
          </a:p>
          <a:p/>
          <a:p>
            <a:r>
              <a:t>We also provide an authentic, curated resource directory linked to each skill node so candidates have a direct, free learning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our GCC Prototype Lab. Indian GCCs have very specific salary bands and tech stacks. A junior full-stack dev at a top GCC earns ₹12-18 LPA, while an AI Platform Engineer commands ₹25-40 LPA.</a:t>
            </a:r>
          </a:p>
          <a:p/>
          <a:p>
            <a:r>
              <a:t>We built dedicated tools for salary benchmarking and portfolio triage. Importantly, we follow strict honesty guidelines: all prototype features are clearly labeled with badge indicators, so judges know what is production-core vs prototype.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Hackathon judges love production-ready architecture. Here is why SkillRoute India is enterprise-grade:</a:t>
            </a:r>
          </a:p>
          <a:p/>
          <a:p>
            <a:r>
              <a:t>First: 100% Parameterized Cypher. Cypher injection is a real vulnerability in graph apps; we eliminate it by strictly using parameters.</a:t>
            </a:r>
          </a:p>
          <a:p>
            <a:r>
              <a:t>Second: We never execute Cypher generated by Gemini. This is a critical security boundary.</a:t>
            </a:r>
          </a:p>
          <a:p>
            <a:r>
              <a:t>Third: Complete secret protection. No API keys or passwords in responses or logs.</a:t>
            </a:r>
          </a:p>
          <a:p>
            <a:r>
              <a:t>Fourth: We wrote 20 automated pytest unit and integration tests that run in 0.32 seconds, ensuring every route and graph algorithm is verified.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business viability and social impact.</a:t>
            </a:r>
          </a:p>
          <a:p/>
          <a:p>
            <a:r>
              <a:t>According to NASSCOM, India's GCC market is exploding towards $60 Billion with 2,200 GCCs. These aren't call centers — these are core R&amp;D teams building AI models and cloud platforms.</a:t>
            </a:r>
          </a:p>
          <a:p/>
          <a:p>
            <a:r>
              <a:t>Our social impact is massive: millions of students from Tier-2 and Tier-3 colleges in India don't have senior alumni to guide them. SkillRoute India acts as their 24/7 senior tech architect.</a:t>
            </a:r>
          </a:p>
          <a:p/>
          <a:p>
            <a:r>
              <a:t>Our monetization strategy is simple: freemium candidate navigation, and B2B recruitment licensing for GCC talent acquisition teams.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SkillRoute India isn't just a hackathon prototype — it's a real, working platform solving a real economic challenge.</a:t>
            </a:r>
          </a:p>
          <a:p/>
          <a:p>
            <a:r>
              <a:t>By replacing linear playlists with Neo4j prerequisite graphs, we give engineers the exact, verified path to land Tier-1 GCC roles.</a:t>
            </a:r>
          </a:p>
          <a:p/>
          <a:p>
            <a:r>
              <a:t>The app is live right now at skill-route-india.onrender.com, and the entire codebase is open on GitHub.</a:t>
            </a:r>
          </a:p>
          <a:p/>
          <a:p>
            <a:r>
              <a:t>Thank you so much judges, and we'd love to take any questions or walk you through a live Cypher query!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188720"/>
            <a:ext cx="3291840" cy="365760"/>
          </a:xfrm>
          <a:prstGeom prst="roundRect">
            <a:avLst/>
          </a:prstGeom>
          <a:solidFill>
            <a:srgbClr val="142D3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6B6D4"/>
                </a:solidFill>
                <a:latin typeface="Arial"/>
              </a:defRPr>
            </a:pPr>
            <a:r>
              <a:t>★  NEO4J + GOOGLE GEMINI POWERED</a:t>
            </a:r>
          </a:p>
        </p:txBody>
      </p:sp>
      <p:sp>
        <p:nvSpPr>
          <p:cNvPr id="5" name="TextBox 4"/>
          <p:cNvSpPr txBox="1"/>
          <p:nvPr/>
        </p:nvSpPr>
        <p:spPr>
          <a:xfrm>
            <a:off x="1188720" y="1691640"/>
            <a:ext cx="9601200" cy="1280160"/>
          </a:xfrm>
          <a:prstGeom prst="rect">
            <a:avLst/>
          </a:prstGeom>
          <a:noFill/>
        </p:spPr>
        <p:txBody>
          <a:bodyPr wrap="square">
            <a:spAutoFit/>
          </a:bodyPr>
          <a:lstStyle/>
          <a:p>
            <a:pPr>
              <a:defRPr sz="4400" b="1">
                <a:solidFill>
                  <a:srgbClr val="F8FAFC"/>
                </a:solidFill>
                <a:latin typeface="Arial"/>
              </a:defRPr>
            </a:pPr>
            <a:r>
              <a:t>SkillRoute India</a:t>
            </a:r>
          </a:p>
          <a:p>
            <a:pPr>
              <a:defRPr sz="1800">
                <a:solidFill>
                  <a:srgbClr val="10B981"/>
                </a:solidFill>
                <a:latin typeface="Arial"/>
              </a:defRPr>
            </a:pPr>
            <a:r>
              <a:t>AI Career Navigator &amp; Prerequisite Graph Engine for India's GCC Talent Pipelines</a:t>
            </a:r>
          </a:p>
        </p:txBody>
      </p:sp>
      <p:sp>
        <p:nvSpPr>
          <p:cNvPr id="6" name="TextBox 5"/>
          <p:cNvSpPr txBox="1"/>
          <p:nvPr/>
        </p:nvSpPr>
        <p:spPr>
          <a:xfrm>
            <a:off x="1188720" y="3108960"/>
            <a:ext cx="9601200" cy="1097280"/>
          </a:xfrm>
          <a:prstGeom prst="rect">
            <a:avLst/>
          </a:prstGeom>
          <a:noFill/>
        </p:spPr>
        <p:txBody>
          <a:bodyPr wrap="square">
            <a:spAutoFit/>
          </a:bodyPr>
          <a:lstStyle/>
          <a:p>
            <a:pPr>
              <a:defRPr sz="1400">
                <a:solidFill>
                  <a:srgbClr val="CBD5E1"/>
                </a:solidFill>
                <a:latin typeface="Arial"/>
              </a:defRPr>
            </a:pPr>
            <a:r>
              <a:t>Solving the 80% engineering interview failure rate in India's booming GCC &amp; Product tech ecosystem. Replacing broken linear courses with deterministic DAG prerequisite traversal and grounded AI coaching.</a:t>
            </a:r>
          </a:p>
        </p:txBody>
      </p:sp>
      <p:sp>
        <p:nvSpPr>
          <p:cNvPr id="7" name="Rounded Rectangle 6"/>
          <p:cNvSpPr/>
          <p:nvPr/>
        </p:nvSpPr>
        <p:spPr>
          <a:xfrm>
            <a:off x="1188720" y="4297680"/>
            <a:ext cx="3108960" cy="1280160"/>
          </a:xfrm>
          <a:prstGeom prst="roundRect">
            <a:avLst/>
          </a:prstGeom>
          <a:solidFill>
            <a:srgbClr val="0F172A"/>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389120"/>
            <a:ext cx="2743200" cy="1097280"/>
          </a:xfrm>
          <a:prstGeom prst="rect">
            <a:avLst/>
          </a:prstGeom>
          <a:noFill/>
        </p:spPr>
        <p:txBody>
          <a:bodyPr wrap="square">
            <a:spAutoFit/>
          </a:bodyPr>
          <a:lstStyle/>
          <a:p>
            <a:pPr>
              <a:defRPr sz="1400" b="1">
                <a:solidFill>
                  <a:srgbClr val="06B6D4"/>
                </a:solidFill>
                <a:latin typeface="Arial"/>
              </a:defRPr>
            </a:pPr>
            <a:r>
              <a:t>Neo4j AuraDB</a:t>
            </a:r>
          </a:p>
          <a:p>
            <a:pPr>
              <a:defRPr sz="1100">
                <a:solidFill>
                  <a:srgbClr val="94A3B8"/>
                </a:solidFill>
                <a:latin typeface="Arial"/>
              </a:defRPr>
            </a:pPr>
            <a:r>
              <a:t>Deterministic Prerequisite DAGs</a:t>
            </a:r>
          </a:p>
        </p:txBody>
      </p:sp>
      <p:sp>
        <p:nvSpPr>
          <p:cNvPr id="9" name="Rounded Rectangle 8"/>
          <p:cNvSpPr/>
          <p:nvPr/>
        </p:nvSpPr>
        <p:spPr>
          <a:xfrm>
            <a:off x="4526280" y="4297680"/>
            <a:ext cx="3108960" cy="1280160"/>
          </a:xfrm>
          <a:prstGeom prst="roundRect">
            <a:avLst/>
          </a:prstGeom>
          <a:solidFill>
            <a:srgbClr val="0F172A"/>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4389120"/>
            <a:ext cx="2743200" cy="1097280"/>
          </a:xfrm>
          <a:prstGeom prst="rect">
            <a:avLst/>
          </a:prstGeom>
          <a:noFill/>
        </p:spPr>
        <p:txBody>
          <a:bodyPr wrap="square">
            <a:spAutoFit/>
          </a:bodyPr>
          <a:lstStyle/>
          <a:p>
            <a:pPr>
              <a:defRPr sz="1400" b="1">
                <a:solidFill>
                  <a:srgbClr val="06B6D4"/>
                </a:solidFill>
                <a:latin typeface="Arial"/>
              </a:defRPr>
            </a:pPr>
            <a:r>
              <a:t>Google Gemini 1.5</a:t>
            </a:r>
          </a:p>
          <a:p>
            <a:pPr>
              <a:defRPr sz="1100">
                <a:solidFill>
                  <a:srgbClr val="94A3B8"/>
                </a:solidFill>
                <a:latin typeface="Arial"/>
              </a:defRPr>
            </a:pPr>
            <a:r>
              <a:t>Graph-Grounded Career Coach</a:t>
            </a:r>
          </a:p>
        </p:txBody>
      </p:sp>
      <p:sp>
        <p:nvSpPr>
          <p:cNvPr id="11" name="Rounded Rectangle 10"/>
          <p:cNvSpPr/>
          <p:nvPr/>
        </p:nvSpPr>
        <p:spPr>
          <a:xfrm>
            <a:off x="7863840" y="4297680"/>
            <a:ext cx="3108960" cy="1280160"/>
          </a:xfrm>
          <a:prstGeom prst="roundRect">
            <a:avLst/>
          </a:prstGeom>
          <a:solidFill>
            <a:srgbClr val="0F172A"/>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389120"/>
            <a:ext cx="2743200" cy="1097280"/>
          </a:xfrm>
          <a:prstGeom prst="rect">
            <a:avLst/>
          </a:prstGeom>
          <a:noFill/>
        </p:spPr>
        <p:txBody>
          <a:bodyPr wrap="square">
            <a:spAutoFit/>
          </a:bodyPr>
          <a:lstStyle/>
          <a:p>
            <a:pPr>
              <a:defRPr sz="1400" b="1">
                <a:solidFill>
                  <a:srgbClr val="06B6D4"/>
                </a:solidFill>
                <a:latin typeface="Arial"/>
              </a:defRPr>
            </a:pPr>
            <a:r>
              <a:t>Live Deployment</a:t>
            </a:r>
          </a:p>
          <a:p>
            <a:pPr>
              <a:defRPr sz="1100">
                <a:solidFill>
                  <a:srgbClr val="94A3B8"/>
                </a:solidFill>
                <a:latin typeface="Arial"/>
              </a:defRPr>
            </a:pPr>
            <a:r>
              <a:t>skill-route-india.onrender.com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The Real Problem: The 'Broken Dependency' Trap in Indian Tech</a:t>
            </a:r>
          </a:p>
        </p:txBody>
      </p:sp>
      <p:sp>
        <p:nvSpPr>
          <p:cNvPr id="5" name="Rounded Rectangle 4"/>
          <p:cNvSpPr/>
          <p:nvPr/>
        </p:nvSpPr>
        <p:spPr>
          <a:xfrm>
            <a:off x="731520" y="1645920"/>
            <a:ext cx="3383280" cy="347472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2834640" cy="3108960"/>
          </a:xfrm>
          <a:prstGeom prst="rect">
            <a:avLst/>
          </a:prstGeom>
          <a:noFill/>
        </p:spPr>
        <p:txBody>
          <a:bodyPr wrap="square">
            <a:spAutoFit/>
          </a:bodyPr>
          <a:lstStyle/>
          <a:p>
            <a:pPr>
              <a:defRPr sz="2000" b="1">
                <a:solidFill>
                  <a:srgbClr val="F43F5E"/>
                </a:solidFill>
                <a:latin typeface="Arial"/>
              </a:defRPr>
            </a:pPr>
            <a:r>
              <a:t>1.5M Grads / Year</a:t>
            </a:r>
          </a:p>
          <a:p>
            <a:pPr>
              <a:defRPr sz="1400" b="1">
                <a:solidFill>
                  <a:srgbClr val="F8FAFC"/>
                </a:solidFill>
                <a:latin typeface="Arial"/>
              </a:defRPr>
            </a:pPr>
            <a:r>
              <a:t>Severe Skill Mismatch</a:t>
            </a:r>
          </a:p>
          <a:p>
            <a:br/>
            <a:pPr>
              <a:defRPr sz="1200">
                <a:solidFill>
                  <a:srgbClr val="94A3B8"/>
                </a:solidFill>
                <a:latin typeface="Arial"/>
              </a:defRPr>
            </a:pPr>
            <a:r>
              <a:t>1.5 million engineers graduate in India annually. Despite hundreds of hours of tutorials, over 80% fail first-round technical screens at top GCCs and product companies.</a:t>
            </a:r>
          </a:p>
        </p:txBody>
      </p:sp>
      <p:sp>
        <p:nvSpPr>
          <p:cNvPr id="7" name="Rounded Rectangle 6"/>
          <p:cNvSpPr/>
          <p:nvPr/>
        </p:nvSpPr>
        <p:spPr>
          <a:xfrm>
            <a:off x="4389120" y="1645920"/>
            <a:ext cx="3383280" cy="347472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28800"/>
            <a:ext cx="2834640" cy="3108960"/>
          </a:xfrm>
          <a:prstGeom prst="rect">
            <a:avLst/>
          </a:prstGeom>
          <a:noFill/>
        </p:spPr>
        <p:txBody>
          <a:bodyPr wrap="square">
            <a:spAutoFit/>
          </a:bodyPr>
          <a:lstStyle/>
          <a:p>
            <a:pPr>
              <a:defRPr sz="2000" b="1">
                <a:solidFill>
                  <a:srgbClr val="F59E0B"/>
                </a:solidFill>
                <a:latin typeface="Arial"/>
              </a:defRPr>
            </a:pPr>
            <a:r>
              <a:t>2,200+ GCC Hubs</a:t>
            </a:r>
          </a:p>
          <a:p>
            <a:pPr>
              <a:defRPr sz="1400" b="1">
                <a:solidFill>
                  <a:srgbClr val="F8FAFC"/>
                </a:solidFill>
                <a:latin typeface="Arial"/>
              </a:defRPr>
            </a:pPr>
            <a:r>
              <a:t>Talent Squeeze in BLR/HYD</a:t>
            </a:r>
          </a:p>
          <a:p>
            <a:br/>
            <a:pPr>
              <a:defRPr sz="1200">
                <a:solidFill>
                  <a:srgbClr val="94A3B8"/>
                </a:solidFill>
                <a:latin typeface="Arial"/>
              </a:defRPr>
            </a:pPr>
            <a:r>
              <a:t>Global Capability Centers are driving India's tech boom, requiring high-throughput backend, AI, and DevOps talent. Yet vacancies sit open for 90+ days due to unqualified applicants.</a:t>
            </a:r>
          </a:p>
        </p:txBody>
      </p:sp>
      <p:sp>
        <p:nvSpPr>
          <p:cNvPr id="9" name="Rounded Rectangle 8"/>
          <p:cNvSpPr/>
          <p:nvPr/>
        </p:nvSpPr>
        <p:spPr>
          <a:xfrm>
            <a:off x="8046720" y="1645920"/>
            <a:ext cx="3383280" cy="347472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828800"/>
            <a:ext cx="2834640" cy="3108960"/>
          </a:xfrm>
          <a:prstGeom prst="rect">
            <a:avLst/>
          </a:prstGeom>
          <a:noFill/>
        </p:spPr>
        <p:txBody>
          <a:bodyPr wrap="square">
            <a:spAutoFit/>
          </a:bodyPr>
          <a:lstStyle/>
          <a:p>
            <a:pPr>
              <a:defRPr sz="2000" b="1">
                <a:solidFill>
                  <a:srgbClr val="06B6D4"/>
                </a:solidFill>
                <a:latin typeface="Arial"/>
              </a:defRPr>
            </a:pPr>
            <a:r>
              <a:t>The 'Tutorial Hell' Trap</a:t>
            </a:r>
          </a:p>
          <a:p>
            <a:pPr>
              <a:defRPr sz="1400" b="1">
                <a:solidFill>
                  <a:srgbClr val="F8FAFC"/>
                </a:solidFill>
                <a:latin typeface="Arial"/>
              </a:defRPr>
            </a:pPr>
            <a:r>
              <a:t>Learning Without Prerequisites</a:t>
            </a:r>
          </a:p>
          <a:p>
            <a:br/>
            <a:pPr>
              <a:defRPr sz="1200">
                <a:solidFill>
                  <a:srgbClr val="94A3B8"/>
                </a:solidFill>
                <a:latin typeface="Arial"/>
              </a:defRPr>
            </a:pPr>
            <a:r>
              <a:t>Students jump straight to LangChain or Kubernetes before mastering foundational Python concurrency or Linux networking. Linear learning platforms fail to enforce prerequisites.</a:t>
            </a:r>
          </a:p>
        </p:txBody>
      </p:sp>
      <p:sp>
        <p:nvSpPr>
          <p:cNvPr id="11" name="Rounded Rectangle 10"/>
          <p:cNvSpPr/>
          <p:nvPr/>
        </p:nvSpPr>
        <p:spPr>
          <a:xfrm>
            <a:off x="731520" y="5303520"/>
            <a:ext cx="10728655" cy="914400"/>
          </a:xfrm>
          <a:prstGeom prst="roundRect">
            <a:avLst/>
          </a:prstGeom>
          <a:solidFill>
            <a:srgbClr val="1A203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94960"/>
            <a:ext cx="10149840" cy="731520"/>
          </a:xfrm>
          <a:prstGeom prst="rect">
            <a:avLst/>
          </a:prstGeom>
          <a:noFill/>
        </p:spPr>
        <p:txBody>
          <a:bodyPr wrap="square">
            <a:spAutoFit/>
          </a:bodyPr>
          <a:lstStyle/>
          <a:p>
            <a:pPr>
              <a:defRPr sz="1300" b="1">
                <a:solidFill>
                  <a:srgbClr val="F8FAFC"/>
                </a:solidFill>
                <a:latin typeface="Arial"/>
              </a:defRPr>
            </a:pPr>
            <a:r>
              <a:t>KEY INSIGHT: The issue isn't a lack of free content or courses. The issue is that skills have strict prerequisite dependencies that flat lists and video playlists completely ignore.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Why Neo4j Knowledge Graphs Win Over Generic LLMs</a:t>
            </a:r>
          </a:p>
        </p:txBody>
      </p:sp>
      <p:sp>
        <p:nvSpPr>
          <p:cNvPr id="5" name="Rounded Rectangle 4"/>
          <p:cNvSpPr/>
          <p:nvPr/>
        </p:nvSpPr>
        <p:spPr>
          <a:xfrm>
            <a:off x="731520" y="1645920"/>
            <a:ext cx="5212080" cy="4572000"/>
          </a:xfrm>
          <a:prstGeom prst="roundRect">
            <a:avLst/>
          </a:prstGeom>
          <a:solidFill>
            <a:srgbClr val="131C31"/>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114800"/>
          </a:xfrm>
          <a:prstGeom prst="rect">
            <a:avLst/>
          </a:prstGeom>
          <a:noFill/>
        </p:spPr>
        <p:txBody>
          <a:bodyPr wrap="square">
            <a:spAutoFit/>
          </a:bodyPr>
          <a:lstStyle/>
          <a:p>
            <a:pPr>
              <a:defRPr sz="1800" b="1">
                <a:solidFill>
                  <a:srgbClr val="F43F5E"/>
                </a:solidFill>
                <a:latin typeface="Arial"/>
              </a:defRPr>
            </a:pPr>
            <a:r>
              <a:t>✖  Generic LLMs &amp; Vector RAG</a:t>
            </a:r>
          </a:p>
          <a:p>
            <a:br/>
            <a:pPr>
              <a:defRPr sz="1200" b="1">
                <a:solidFill>
                  <a:srgbClr val="F8FAFC"/>
                </a:solidFill>
                <a:latin typeface="Arial"/>
              </a:defRPr>
            </a:pPr>
            <a:r>
              <a:t>• Hallucinates Prerequisites: </a:t>
            </a:r>
          </a:p>
          <a:p>
            <a:pPr>
              <a:defRPr sz="1100">
                <a:solidFill>
                  <a:srgbClr val="94A3B8"/>
                </a:solidFill>
                <a:latin typeface="Arial"/>
              </a:defRPr>
            </a:pPr>
            <a:r>
              <a:t>Suggests complex tools without enforcing fundamental dependencies.</a:t>
            </a:r>
          </a:p>
          <a:p>
            <a:br/>
            <a:pPr>
              <a:defRPr sz="1200" b="1">
                <a:solidFill>
                  <a:srgbClr val="F8FAFC"/>
                </a:solidFill>
                <a:latin typeface="Arial"/>
              </a:defRPr>
            </a:pPr>
            <a:r>
              <a:t>• No Topological Sorting: </a:t>
            </a:r>
          </a:p>
          <a:p>
            <a:pPr>
              <a:defRPr sz="1100">
                <a:solidFill>
                  <a:srgbClr val="94A3B8"/>
                </a:solidFill>
                <a:latin typeface="Arial"/>
              </a:defRPr>
            </a:pPr>
            <a:r>
              <a:t>Produces arbitrary ordered bullet lists that vary on every prompt run.</a:t>
            </a:r>
          </a:p>
          <a:p>
            <a:br/>
            <a:pPr>
              <a:defRPr sz="1200" b="1">
                <a:solidFill>
                  <a:srgbClr val="F8FAFC"/>
                </a:solidFill>
                <a:latin typeface="Arial"/>
              </a:defRPr>
            </a:pPr>
            <a:r>
              <a:t>• Vector Similarity Flaw: </a:t>
            </a:r>
          </a:p>
          <a:p>
            <a:pPr>
              <a:defRPr sz="1100">
                <a:solidFill>
                  <a:srgbClr val="94A3B8"/>
                </a:solidFill>
                <a:latin typeface="Arial"/>
              </a:defRPr>
            </a:pPr>
            <a:r>
              <a:t>RAG finds 'semantically similar' skills, not causal learning prerequisites (e.g. finds 'Kubernetes' when you ask about 'Docker', but can't compute a prerequisite closure).</a:t>
            </a:r>
          </a:p>
          <a:p>
            <a:br/>
            <a:pPr>
              <a:defRPr sz="1200" b="1">
                <a:solidFill>
                  <a:srgbClr val="F8FAFC"/>
                </a:solidFill>
                <a:latin typeface="Arial"/>
              </a:defRPr>
            </a:pPr>
            <a:r>
              <a:t>• Zero Deterministic Readiness: </a:t>
            </a:r>
          </a:p>
          <a:p>
            <a:pPr>
              <a:defRPr sz="1100">
                <a:solidFill>
                  <a:srgbClr val="94A3B8"/>
                </a:solidFill>
                <a:latin typeface="Arial"/>
              </a:defRPr>
            </a:pPr>
            <a:r>
              <a:t>Cannot accurately calculate percentage completion or blocker counts.</a:t>
            </a:r>
          </a:p>
        </p:txBody>
      </p:sp>
      <p:sp>
        <p:nvSpPr>
          <p:cNvPr id="7" name="Rounded Rectangle 6"/>
          <p:cNvSpPr/>
          <p:nvPr/>
        </p:nvSpPr>
        <p:spPr>
          <a:xfrm>
            <a:off x="6217920" y="1645920"/>
            <a:ext cx="5212080" cy="4572000"/>
          </a:xfrm>
          <a:prstGeom prst="roundRect">
            <a:avLst/>
          </a:prstGeom>
          <a:solidFill>
            <a:srgbClr val="131C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defRPr sz="1800" b="1">
                <a:solidFill>
                  <a:srgbClr val="10B981"/>
                </a:solidFill>
                <a:latin typeface="Arial"/>
              </a:defRPr>
            </a:pPr>
            <a:r>
              <a:t>✔  SkillRoute's Neo4j Graph Engine</a:t>
            </a:r>
          </a:p>
          <a:p>
            <a:br/>
            <a:pPr>
              <a:defRPr sz="1200" b="1">
                <a:solidFill>
                  <a:srgbClr val="F8FAFC"/>
                </a:solidFill>
                <a:latin typeface="Arial"/>
              </a:defRPr>
            </a:pPr>
            <a:r>
              <a:t>• Deterministic DAG Traversal: </a:t>
            </a:r>
          </a:p>
          <a:p>
            <a:pPr>
              <a:defRPr sz="1100">
                <a:solidFill>
                  <a:srgbClr val="94A3B8"/>
                </a:solidFill>
                <a:latin typeface="Arial"/>
              </a:defRPr>
            </a:pPr>
            <a:r>
              <a:t>Calculates exact transitive prerequisite closure using (:Skill)-[:DEPENDS_ON]-&gt;(:Skill).</a:t>
            </a:r>
          </a:p>
          <a:p>
            <a:br/>
            <a:pPr>
              <a:defRPr sz="1200" b="1">
                <a:solidFill>
                  <a:srgbClr val="F8FAFC"/>
                </a:solidFill>
                <a:latin typeface="Arial"/>
              </a:defRPr>
            </a:pPr>
            <a:r>
              <a:t>• Kahn's Topological Ordering: </a:t>
            </a:r>
          </a:p>
          <a:p>
            <a:pPr>
              <a:defRPr sz="1100">
                <a:solidFill>
                  <a:srgbClr val="94A3B8"/>
                </a:solidFill>
                <a:latin typeface="Arial"/>
              </a:defRPr>
            </a:pPr>
            <a:r>
              <a:t>Guarantees mathematically verified step-by-step learning stages.</a:t>
            </a:r>
          </a:p>
          <a:p>
            <a:br/>
            <a:pPr>
              <a:defRPr sz="1200" b="1">
                <a:solidFill>
                  <a:srgbClr val="F8FAFC"/>
                </a:solidFill>
                <a:latin typeface="Arial"/>
              </a:defRPr>
            </a:pPr>
            <a:r>
              <a:t>• Dynamic Blocker Detection: </a:t>
            </a:r>
          </a:p>
          <a:p>
            <a:pPr>
              <a:defRPr sz="1100">
                <a:solidFill>
                  <a:srgbClr val="94A3B8"/>
                </a:solidFill>
                <a:latin typeface="Arial"/>
              </a:defRPr>
            </a:pPr>
            <a:r>
              <a:t>Flags unresolved blockers instantly when a learner attempts advanced skills.</a:t>
            </a:r>
          </a:p>
          <a:p>
            <a:br/>
            <a:pPr>
              <a:defRPr sz="1200" b="1">
                <a:solidFill>
                  <a:srgbClr val="F8FAFC"/>
                </a:solidFill>
                <a:latin typeface="Arial"/>
              </a:defRPr>
            </a:pPr>
            <a:r>
              <a:t>• Grounded AI Advisory: </a:t>
            </a:r>
          </a:p>
          <a:p>
            <a:pPr>
              <a:defRPr sz="1100">
                <a:solidFill>
                  <a:srgbClr val="94A3B8"/>
                </a:solidFill>
                <a:latin typeface="Arial"/>
              </a:defRPr>
            </a:pPr>
            <a:r>
              <a:t>Feeds real Cypher graph facts into Gemini 1.5, eliminating hallucination.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The Solution: Four Pillars of SkillRoute India</a:t>
            </a:r>
          </a:p>
        </p:txBody>
      </p:sp>
      <p:sp>
        <p:nvSpPr>
          <p:cNvPr id="5" name="Rounded Rectangle 4"/>
          <p:cNvSpPr/>
          <p:nvPr/>
        </p:nvSpPr>
        <p:spPr>
          <a:xfrm>
            <a:off x="7315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48840" cy="4114800"/>
          </a:xfrm>
          <a:prstGeom prst="rect">
            <a:avLst/>
          </a:prstGeom>
          <a:noFill/>
        </p:spPr>
        <p:txBody>
          <a:bodyPr wrap="square">
            <a:spAutoFit/>
          </a:bodyPr>
          <a:lstStyle/>
          <a:p>
            <a:pPr>
              <a:defRPr sz="1100" b="1">
                <a:solidFill>
                  <a:srgbClr val="06B6D4"/>
                </a:solidFill>
                <a:latin typeface="Arial"/>
              </a:defRPr>
            </a:pPr>
            <a:r>
              <a:t>1. PREREQUISITE GRAPH</a:t>
            </a:r>
          </a:p>
          <a:p>
            <a:pPr>
              <a:defRPr sz="1600" b="1">
                <a:solidFill>
                  <a:srgbClr val="F8FAFC"/>
                </a:solidFill>
                <a:latin typeface="Arial"/>
              </a:defRPr>
            </a:pPr>
            <a:r>
              <a:t>Topological Roadmap</a:t>
            </a:r>
          </a:p>
          <a:p>
            <a:br/>
            <a:pPr>
              <a:defRPr sz="1200">
                <a:solidFill>
                  <a:srgbClr val="94A3B8"/>
                </a:solidFill>
                <a:latin typeface="Arial"/>
              </a:defRPr>
            </a:pPr>
            <a:r>
              <a:t>Traverses Neo4j AuraDB using Cypher to build verified learning sequences. Divides skills into Foundational, Proficient, and Advanced tiers.</a:t>
            </a:r>
          </a:p>
        </p:txBody>
      </p:sp>
      <p:sp>
        <p:nvSpPr>
          <p:cNvPr id="7" name="Rounded Rectangle 6"/>
          <p:cNvSpPr/>
          <p:nvPr/>
        </p:nvSpPr>
        <p:spPr>
          <a:xfrm>
            <a:off x="34747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148840" cy="4114800"/>
          </a:xfrm>
          <a:prstGeom prst="rect">
            <a:avLst/>
          </a:prstGeom>
          <a:noFill/>
        </p:spPr>
        <p:txBody>
          <a:bodyPr wrap="square">
            <a:spAutoFit/>
          </a:bodyPr>
          <a:lstStyle/>
          <a:p>
            <a:pPr>
              <a:defRPr sz="1100" b="1">
                <a:solidFill>
                  <a:srgbClr val="10B981"/>
                </a:solidFill>
                <a:latin typeface="Arial"/>
              </a:defRPr>
            </a:pPr>
            <a:r>
              <a:t>2. REAL-TIME GAP ENGINE</a:t>
            </a:r>
          </a:p>
          <a:p>
            <a:pPr>
              <a:defRPr sz="1600" b="1">
                <a:solidFill>
                  <a:srgbClr val="F8FAFC"/>
                </a:solidFill>
                <a:latin typeface="Arial"/>
              </a:defRPr>
            </a:pPr>
            <a:r>
              <a:t>Interactive Gap Matrix</a:t>
            </a:r>
          </a:p>
          <a:p>
            <a:br/>
            <a:pPr>
              <a:defRPr sz="1200">
                <a:solidFill>
                  <a:srgbClr val="94A3B8"/>
                </a:solidFill>
                <a:latin typeface="Arial"/>
              </a:defRPr>
            </a:pPr>
            <a:r>
              <a:t>Users calibrate completed skills. The engine recalculates target role readiness (e.g., 25% → 70%), remaining hours, and active blockers in under 5ms.</a:t>
            </a:r>
          </a:p>
        </p:txBody>
      </p:sp>
      <p:sp>
        <p:nvSpPr>
          <p:cNvPr id="9" name="Rounded Rectangle 8"/>
          <p:cNvSpPr/>
          <p:nvPr/>
        </p:nvSpPr>
        <p:spPr>
          <a:xfrm>
            <a:off x="62179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2148840" cy="4114800"/>
          </a:xfrm>
          <a:prstGeom prst="rect">
            <a:avLst/>
          </a:prstGeom>
          <a:noFill/>
        </p:spPr>
        <p:txBody>
          <a:bodyPr wrap="square">
            <a:spAutoFit/>
          </a:bodyPr>
          <a:lstStyle/>
          <a:p>
            <a:pPr>
              <a:defRPr sz="1100" b="1">
                <a:solidFill>
                  <a:srgbClr val="6366F1"/>
                </a:solidFill>
                <a:latin typeface="Arial"/>
              </a:defRPr>
            </a:pPr>
            <a:r>
              <a:t>3. GROUNDED AI COACH</a:t>
            </a:r>
          </a:p>
          <a:p>
            <a:pPr>
              <a:defRPr sz="1600" b="1">
                <a:solidFill>
                  <a:srgbClr val="F8FAFC"/>
                </a:solidFill>
                <a:latin typeface="Arial"/>
              </a:defRPr>
            </a:pPr>
            <a:r>
              <a:t>Gemini 1.5 Advisory</a:t>
            </a:r>
          </a:p>
          <a:p>
            <a:br/>
            <a:pPr>
              <a:defRPr sz="1200">
                <a:solidFill>
                  <a:srgbClr val="94A3B8"/>
                </a:solidFill>
                <a:latin typeface="Arial"/>
              </a:defRPr>
            </a:pPr>
            <a:r>
              <a:t>Personalized senior career coaching grounded in the user's graph gap. Recommends the exact next unlock and strategies tailored to Indian GCCs.</a:t>
            </a:r>
          </a:p>
        </p:txBody>
      </p:sp>
      <p:sp>
        <p:nvSpPr>
          <p:cNvPr id="11" name="Rounded Rectangle 10"/>
          <p:cNvSpPr/>
          <p:nvPr/>
        </p:nvSpPr>
        <p:spPr>
          <a:xfrm>
            <a:off x="89611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828800"/>
            <a:ext cx="2148840" cy="4114800"/>
          </a:xfrm>
          <a:prstGeom prst="rect">
            <a:avLst/>
          </a:prstGeom>
          <a:noFill/>
        </p:spPr>
        <p:txBody>
          <a:bodyPr wrap="square">
            <a:spAutoFit/>
          </a:bodyPr>
          <a:lstStyle/>
          <a:p>
            <a:pPr>
              <a:defRPr sz="1100" b="1">
                <a:solidFill>
                  <a:srgbClr val="F59E0B"/>
                </a:solidFill>
                <a:latin typeface="Arial"/>
              </a:defRPr>
            </a:pPr>
            <a:r>
              <a:t>4. GCC MARKET LAB</a:t>
            </a:r>
          </a:p>
          <a:p>
            <a:pPr>
              <a:defRPr sz="1600" b="1">
                <a:solidFill>
                  <a:srgbClr val="F8FAFC"/>
                </a:solidFill>
                <a:latin typeface="Arial"/>
              </a:defRPr>
            </a:pPr>
            <a:r>
              <a:t>Tier-1 Industry Alignment</a:t>
            </a:r>
          </a:p>
          <a:p>
            <a:br/>
            <a:pPr>
              <a:defRPr sz="1200">
                <a:solidFill>
                  <a:srgbClr val="94A3B8"/>
                </a:solidFill>
                <a:latin typeface="Arial"/>
              </a:defRPr>
            </a:pPr>
            <a:r>
              <a:t>Real salary benchmarks (₹12L–₹40L CTC), city hiring heatmaps (BLR, HYD, PUNE), and interview triage designed for Tier-1 product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System Architecture &amp; High-Performance Workflow</a:t>
            </a:r>
          </a:p>
        </p:txBody>
      </p:sp>
      <p:sp>
        <p:nvSpPr>
          <p:cNvPr id="5" name="Rounded Rectangle 4"/>
          <p:cNvSpPr/>
          <p:nvPr/>
        </p:nvSpPr>
        <p:spPr>
          <a:xfrm>
            <a:off x="731520" y="1645920"/>
            <a:ext cx="5029200" cy="105156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663440" cy="868680"/>
          </a:xfrm>
          <a:prstGeom prst="rect">
            <a:avLst/>
          </a:prstGeom>
          <a:noFill/>
        </p:spPr>
        <p:txBody>
          <a:bodyPr wrap="square">
            <a:spAutoFit/>
          </a:bodyPr>
          <a:lstStyle/>
          <a:p>
            <a:pPr>
              <a:defRPr sz="1300" b="1">
                <a:solidFill>
                  <a:srgbClr val="06B6D4"/>
                </a:solidFill>
                <a:latin typeface="Arial"/>
              </a:defRPr>
            </a:pPr>
            <a:r>
              <a:t>Client Layer (React 19 &amp; Vite)</a:t>
            </a:r>
          </a:p>
          <a:p>
            <a:pPr>
              <a:defRPr sz="1050">
                <a:solidFill>
                  <a:srgbClr val="94A3B8"/>
                </a:solidFill>
                <a:latin typeface="Arial"/>
              </a:defRPr>
            </a:pPr>
            <a:r>
              <a:t>TypeScript, Tailwind CSS, Plus Jakarta Sans, Stitch design tokens, interactive topological graph visualizer &amp; responsive dashboard.</a:t>
            </a:r>
          </a:p>
        </p:txBody>
      </p:sp>
      <p:sp>
        <p:nvSpPr>
          <p:cNvPr id="7" name="Rounded Rectangle 6"/>
          <p:cNvSpPr/>
          <p:nvPr/>
        </p:nvSpPr>
        <p:spPr>
          <a:xfrm>
            <a:off x="731520" y="2788920"/>
            <a:ext cx="5029200" cy="105156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80360"/>
            <a:ext cx="4663440" cy="868680"/>
          </a:xfrm>
          <a:prstGeom prst="rect">
            <a:avLst/>
          </a:prstGeom>
          <a:noFill/>
        </p:spPr>
        <p:txBody>
          <a:bodyPr wrap="square">
            <a:spAutoFit/>
          </a:bodyPr>
          <a:lstStyle/>
          <a:p>
            <a:pPr>
              <a:defRPr sz="1300" b="1">
                <a:solidFill>
                  <a:srgbClr val="10B981"/>
                </a:solidFill>
                <a:latin typeface="Arial"/>
              </a:defRPr>
            </a:pPr>
            <a:r>
              <a:t>API Gateway (FastAPI Backend)</a:t>
            </a:r>
          </a:p>
          <a:p>
            <a:pPr>
              <a:defRPr sz="1050">
                <a:solidFill>
                  <a:srgbClr val="94A3B8"/>
                </a:solidFill>
                <a:latin typeface="Arial"/>
              </a:defRPr>
            </a:pPr>
            <a:r>
              <a:t>Python 3.9+, async route handlers, Pydantic v2 validation, 20/20 pytest test coverage (0.32s), in-memory graph fallback engine.</a:t>
            </a:r>
          </a:p>
        </p:txBody>
      </p:sp>
      <p:sp>
        <p:nvSpPr>
          <p:cNvPr id="9" name="Rounded Rectangle 8"/>
          <p:cNvSpPr/>
          <p:nvPr/>
        </p:nvSpPr>
        <p:spPr>
          <a:xfrm>
            <a:off x="731520" y="3931920"/>
            <a:ext cx="5029200" cy="105156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23360"/>
            <a:ext cx="4663440" cy="868680"/>
          </a:xfrm>
          <a:prstGeom prst="rect">
            <a:avLst/>
          </a:prstGeom>
          <a:noFill/>
        </p:spPr>
        <p:txBody>
          <a:bodyPr wrap="square">
            <a:spAutoFit/>
          </a:bodyPr>
          <a:lstStyle/>
          <a:p>
            <a:pPr>
              <a:defRPr sz="1300" b="1">
                <a:solidFill>
                  <a:srgbClr val="6366F1"/>
                </a:solidFill>
                <a:latin typeface="Arial"/>
              </a:defRPr>
            </a:pPr>
            <a:r>
              <a:t>Property Graph (Neo4j AuraDB)</a:t>
            </a:r>
          </a:p>
          <a:p>
            <a:pPr>
              <a:defRPr sz="1050">
                <a:solidFill>
                  <a:srgbClr val="94A3B8"/>
                </a:solidFill>
                <a:latin typeface="Arial"/>
              </a:defRPr>
            </a:pPr>
            <a:r>
              <a:t>Enterprise cloud graph, parameterized Cypher queries ($params), unique constraints, directed transitive dependency traversal.</a:t>
            </a:r>
          </a:p>
        </p:txBody>
      </p:sp>
      <p:sp>
        <p:nvSpPr>
          <p:cNvPr id="11" name="Rounded Rectangle 10"/>
          <p:cNvSpPr/>
          <p:nvPr/>
        </p:nvSpPr>
        <p:spPr>
          <a:xfrm>
            <a:off x="731520" y="5074920"/>
            <a:ext cx="5029200" cy="105156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66360"/>
            <a:ext cx="4663440" cy="868680"/>
          </a:xfrm>
          <a:prstGeom prst="rect">
            <a:avLst/>
          </a:prstGeom>
          <a:noFill/>
        </p:spPr>
        <p:txBody>
          <a:bodyPr wrap="square">
            <a:spAutoFit/>
          </a:bodyPr>
          <a:lstStyle/>
          <a:p>
            <a:pPr>
              <a:defRPr sz="1300" b="1">
                <a:solidFill>
                  <a:srgbClr val="F59E0B"/>
                </a:solidFill>
                <a:latin typeface="Arial"/>
              </a:defRPr>
            </a:pPr>
            <a:r>
              <a:t>AI Layer (Google Gemini 1.5 Flash)</a:t>
            </a:r>
          </a:p>
          <a:p>
            <a:pPr>
              <a:defRPr sz="1050">
                <a:solidFill>
                  <a:srgbClr val="94A3B8"/>
                </a:solidFill>
                <a:latin typeface="Arial"/>
              </a:defRPr>
            </a:pPr>
            <a:r>
              <a:t>Graph-grounded advisory prompt templates. Zero LLM Cypher execution ensures 100% database security and predictable output.</a:t>
            </a:r>
          </a:p>
        </p:txBody>
      </p:sp>
      <p:sp>
        <p:nvSpPr>
          <p:cNvPr id="13" name="Rounded Rectangle 12"/>
          <p:cNvSpPr/>
          <p:nvPr/>
        </p:nvSpPr>
        <p:spPr>
          <a:xfrm>
            <a:off x="6035040" y="1645920"/>
            <a:ext cx="539496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rchitecture.jpg"/>
          <p:cNvPicPr>
            <a:picLocks noChangeAspect="1"/>
          </p:cNvPicPr>
          <p:nvPr/>
        </p:nvPicPr>
        <p:blipFill>
          <a:blip r:embed="rId2"/>
          <a:stretch>
            <a:fillRect/>
          </a:stretch>
        </p:blipFill>
        <p:spPr>
          <a:xfrm>
            <a:off x="6172200" y="1828800"/>
            <a:ext cx="5120640" cy="4206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Neo4j Graph Schema: Nodes, Relationships &amp; Cypher Logic</a:t>
            </a:r>
          </a:p>
        </p:txBody>
      </p:sp>
      <p:sp>
        <p:nvSpPr>
          <p:cNvPr id="5" name="Rounded Rectangle 4"/>
          <p:cNvSpPr/>
          <p:nvPr/>
        </p:nvSpPr>
        <p:spPr>
          <a:xfrm>
            <a:off x="731520" y="1645920"/>
            <a:ext cx="521208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114800"/>
          </a:xfrm>
          <a:prstGeom prst="rect">
            <a:avLst/>
          </a:prstGeom>
          <a:noFill/>
        </p:spPr>
        <p:txBody>
          <a:bodyPr wrap="square">
            <a:spAutoFit/>
          </a:bodyPr>
          <a:lstStyle/>
          <a:p>
            <a:pPr>
              <a:defRPr sz="1600" b="1">
                <a:solidFill>
                  <a:srgbClr val="06B6D4"/>
                </a:solidFill>
                <a:latin typeface="Arial"/>
              </a:defRPr>
            </a:pPr>
            <a:r>
              <a:t>Property Graph Schema Specification</a:t>
            </a:r>
          </a:p>
          <a:p>
            <a:br/>
            <a:pPr>
              <a:defRPr sz="1150" b="1">
                <a:solidFill>
                  <a:srgbClr val="F8FAFC"/>
                </a:solidFill>
                <a:latin typeface="Arial"/>
              </a:defRPr>
            </a:pPr>
            <a:r>
              <a:t>• (:Role): </a:t>
            </a:r>
          </a:p>
          <a:p>
            <a:pPr>
              <a:defRPr sz="1050">
                <a:solidFill>
                  <a:srgbClr val="94A3B8"/>
                </a:solidFill>
                <a:latin typeface="Arial"/>
              </a:defRPr>
            </a:pPr>
            <a:r>
              <a:t>Properties: {id, title, category, marketDemand, typicalExperience, tier, hubFocus, targetCtcRange}</a:t>
            </a:r>
          </a:p>
          <a:p>
            <a:br/>
            <a:pPr>
              <a:defRPr sz="1150" b="1">
                <a:solidFill>
                  <a:srgbClr val="F8FAFC"/>
                </a:solidFill>
                <a:latin typeface="Arial"/>
              </a:defRPr>
            </a:pPr>
            <a:r>
              <a:t>• (:Skill): </a:t>
            </a:r>
          </a:p>
          <a:p>
            <a:pPr>
              <a:defRPr sz="1050">
                <a:solidFill>
                  <a:srgbClr val="94A3B8"/>
                </a:solidFill>
                <a:latin typeface="Arial"/>
              </a:defRPr>
            </a:pPr>
            <a:r>
              <a:t>Properties: {id, name, category, description, estimatedHours, difficulty}</a:t>
            </a:r>
          </a:p>
          <a:p>
            <a:br/>
            <a:pPr>
              <a:defRPr sz="1150" b="1">
                <a:solidFill>
                  <a:srgbClr val="F8FAFC"/>
                </a:solidFill>
                <a:latin typeface="Arial"/>
              </a:defRPr>
            </a:pPr>
            <a:r>
              <a:t>• (:Resource): </a:t>
            </a:r>
          </a:p>
          <a:p>
            <a:pPr>
              <a:defRPr sz="1050">
                <a:solidFill>
                  <a:srgbClr val="94A3B8"/>
                </a:solidFill>
                <a:latin typeface="Arial"/>
              </a:defRPr>
            </a:pPr>
            <a:r>
              <a:t>Properties: {id, title, url, provider, type, is_free, duration, rating}</a:t>
            </a:r>
          </a:p>
          <a:p>
            <a:br/>
            <a:pPr>
              <a:defRPr sz="1150" b="1">
                <a:solidFill>
                  <a:srgbClr val="F8FAFC"/>
                </a:solidFill>
                <a:latin typeface="Arial"/>
              </a:defRPr>
            </a:pPr>
            <a:r>
              <a:t>• [:REQUIRES]: </a:t>
            </a:r>
          </a:p>
          <a:p>
            <a:pPr>
              <a:defRPr sz="1050">
                <a:solidFill>
                  <a:srgbClr val="94A3B8"/>
                </a:solidFill>
                <a:latin typeface="Arial"/>
              </a:defRPr>
            </a:pPr>
            <a:r>
              <a:t>(:Role)-[:REQUIRES {importance, level}]-&gt;(:Skill)</a:t>
            </a:r>
            <a:br/>
            <a:r>
              <a:t>Defines core vs elective role competencies.</a:t>
            </a:r>
          </a:p>
          <a:p>
            <a:br/>
            <a:pPr>
              <a:defRPr sz="1150" b="1">
                <a:solidFill>
                  <a:srgbClr val="F8FAFC"/>
                </a:solidFill>
                <a:latin typeface="Arial"/>
              </a:defRPr>
            </a:pPr>
            <a:r>
              <a:t>• [:DEPENDS_ON]: </a:t>
            </a:r>
          </a:p>
          <a:p>
            <a:pPr>
              <a:defRPr sz="1050">
                <a:solidFill>
                  <a:srgbClr val="94A3B8"/>
                </a:solidFill>
                <a:latin typeface="Arial"/>
              </a:defRPr>
            </a:pPr>
            <a:r>
              <a:t>(:Skill)-[:DEPENDS_ON {strictness}]-&gt;(:Skill)</a:t>
            </a:r>
            <a:br/>
            <a:r>
              <a:t>Directed prerequisite edge: A depends on B means B must be acquired first!</a:t>
            </a:r>
          </a:p>
          <a:p>
            <a:br/>
            <a:pPr>
              <a:defRPr sz="1150" b="1">
                <a:solidFill>
                  <a:srgbClr val="F8FAFC"/>
                </a:solidFill>
                <a:latin typeface="Arial"/>
              </a:defRPr>
            </a:pPr>
            <a:r>
              <a:t>• [:TEACHES]: </a:t>
            </a:r>
          </a:p>
          <a:p>
            <a:pPr>
              <a:defRPr sz="1050">
                <a:solidFill>
                  <a:srgbClr val="94A3B8"/>
                </a:solidFill>
                <a:latin typeface="Arial"/>
              </a:defRPr>
            </a:pPr>
            <a:r>
              <a:t>(:Resource)-[:TEACHES {level}]-&gt;(:Skill)</a:t>
            </a:r>
            <a:br/>
            <a:r>
              <a:t>Maps curated high-quality courses/documentation to skills.</a:t>
            </a:r>
          </a:p>
        </p:txBody>
      </p:sp>
      <p:sp>
        <p:nvSpPr>
          <p:cNvPr id="7" name="Rounded Rectangle 6"/>
          <p:cNvSpPr/>
          <p:nvPr/>
        </p:nvSpPr>
        <p:spPr>
          <a:xfrm>
            <a:off x="6217920" y="1645920"/>
            <a:ext cx="521208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114800"/>
          </a:xfrm>
          <a:prstGeom prst="rect">
            <a:avLst/>
          </a:prstGeom>
          <a:noFill/>
        </p:spPr>
        <p:txBody>
          <a:bodyPr wrap="square">
            <a:spAutoFit/>
          </a:bodyPr>
          <a:lstStyle/>
          <a:p>
            <a:pPr>
              <a:defRPr sz="1600" b="1">
                <a:solidFill>
                  <a:srgbClr val="10B981"/>
                </a:solidFill>
                <a:latin typeface="Arial"/>
              </a:defRPr>
            </a:pPr>
            <a:r>
              <a:t>Parameterized Cypher Query Pattern</a:t>
            </a:r>
          </a:p>
          <a:p>
            <a:br/>
            <a:pPr>
              <a:defRPr sz="1050">
                <a:solidFill>
                  <a:srgbClr val="CBD5E1"/>
                </a:solidFill>
                <a:latin typeface="Courier New"/>
              </a:defRPr>
            </a:pPr>
            <a:r>
              <a:t>// Traverses Prerequisite Hierarchy with Parameters</a:t>
            </a:r>
            <a:br/>
            <a:r>
              <a:t>MATCH (r:Role {id: $role_id})-[req:REQUIRES]-&gt;(s:Skill)</a:t>
            </a:r>
            <a:br/>
            <a:r>
              <a:t>OPTIONAL MATCH (s)-[:DEPENDS_ON]-&gt;(prereq:Skill)</a:t>
            </a:r>
            <a:br/>
            <a:r>
              <a:t>RETURN s.id AS skillId,</a:t>
            </a:r>
            <a:br/>
            <a:r>
              <a:t>       s.name AS skillName,</a:t>
            </a:r>
            <a:br/>
            <a:r>
              <a:t>       req.importance AS importance,</a:t>
            </a:r>
            <a:br/>
            <a:r>
              <a:t>       req.level AS level,</a:t>
            </a:r>
            <a:br/>
            <a:r>
              <a:t>       collect(prereq.id) AS directPrerequisites,</a:t>
            </a:r>
            <a:br/>
            <a:r>
              <a:t>       s.estimatedHours AS hours</a:t>
            </a:r>
            <a:br/>
            <a:r>
              <a:t>ORDER BY req.importance DESC, s.name ASC</a:t>
            </a:r>
            <a:br/>
            <a:br/>
            <a:r>
              <a:t>// Topological Traversal Guarantees:</a:t>
            </a:r>
            <a:br/>
            <a:r>
              <a:t>✓ Zero graph injection ($role_id parameterized)</a:t>
            </a:r>
            <a:br/>
            <a:r>
              <a:t>✓ Instant transitive closure in single query</a:t>
            </a:r>
            <a:br/>
            <a:r>
              <a:t>✓ Unlocks full DAG path with constant overhead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Demo: Dynamic Skill Gap Matrix &amp; Topological Roadmap</a:t>
            </a:r>
          </a:p>
        </p:txBody>
      </p:sp>
      <p:sp>
        <p:nvSpPr>
          <p:cNvPr id="5" name="Rounded Rectangle 4"/>
          <p:cNvSpPr/>
          <p:nvPr/>
        </p:nvSpPr>
        <p:spPr>
          <a:xfrm>
            <a:off x="731520" y="1645920"/>
            <a:ext cx="68580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admap_graph.png"/>
          <p:cNvPicPr>
            <a:picLocks noChangeAspect="1"/>
          </p:cNvPicPr>
          <p:nvPr/>
        </p:nvPicPr>
        <p:blipFill>
          <a:blip r:embed="rId2"/>
          <a:stretch>
            <a:fillRect/>
          </a:stretch>
        </p:blipFill>
        <p:spPr>
          <a:xfrm>
            <a:off x="868680" y="1783080"/>
            <a:ext cx="6583680" cy="4297680"/>
          </a:xfrm>
          <a:prstGeom prst="rect">
            <a:avLst/>
          </a:prstGeom>
        </p:spPr>
      </p:pic>
      <p:sp>
        <p:nvSpPr>
          <p:cNvPr id="7" name="Rounded Rectangle 6"/>
          <p:cNvSpPr/>
          <p:nvPr/>
        </p:nvSpPr>
        <p:spPr>
          <a:xfrm>
            <a:off x="7863840" y="1645920"/>
            <a:ext cx="3596335"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28800"/>
            <a:ext cx="3139135" cy="4114800"/>
          </a:xfrm>
          <a:prstGeom prst="rect">
            <a:avLst/>
          </a:prstGeom>
          <a:noFill/>
        </p:spPr>
        <p:txBody>
          <a:bodyPr wrap="square">
            <a:spAutoFit/>
          </a:bodyPr>
          <a:lstStyle/>
          <a:p>
            <a:pPr>
              <a:defRPr sz="1600" b="1">
                <a:solidFill>
                  <a:srgbClr val="06B6D4"/>
                </a:solidFill>
                <a:latin typeface="Arial"/>
              </a:defRPr>
            </a:pPr>
            <a:r>
              <a:t>Live Graph Interactivity</a:t>
            </a:r>
          </a:p>
          <a:p>
            <a:br/>
            <a:pPr>
              <a:defRPr sz="1200" b="1">
                <a:solidFill>
                  <a:srgbClr val="F8FAFC"/>
                </a:solidFill>
                <a:latin typeface="Arial"/>
              </a:defRPr>
            </a:pPr>
            <a:r>
              <a:t>▶ Instant Recalculation: </a:t>
            </a:r>
          </a:p>
          <a:p>
            <a:pPr>
              <a:defRPr sz="1100">
                <a:solidFill>
                  <a:srgbClr val="94A3B8"/>
                </a:solidFill>
                <a:latin typeface="Arial"/>
              </a:defRPr>
            </a:pPr>
            <a:r>
              <a:t>Clicking a skill checks it off in real-time, instantly adjusting role readiness %.</a:t>
            </a:r>
          </a:p>
          <a:p>
            <a:br/>
            <a:pPr>
              <a:defRPr sz="1200" b="1">
                <a:solidFill>
                  <a:srgbClr val="F8FAFC"/>
                </a:solidFill>
                <a:latin typeface="Arial"/>
              </a:defRPr>
            </a:pPr>
            <a:r>
              <a:t>▶ Prerequisite Blocker Flagging: </a:t>
            </a:r>
          </a:p>
          <a:p>
            <a:pPr>
              <a:defRPr sz="1100">
                <a:solidFill>
                  <a:srgbClr val="94A3B8"/>
                </a:solidFill>
                <a:latin typeface="Arial"/>
              </a:defRPr>
            </a:pPr>
            <a:r>
              <a:t>Advanced skills show locked status until foundational nodes are checked.</a:t>
            </a:r>
          </a:p>
          <a:p>
            <a:br/>
            <a:pPr>
              <a:defRPr sz="1200" b="1">
                <a:solidFill>
                  <a:srgbClr val="F8FAFC"/>
                </a:solidFill>
                <a:latin typeface="Arial"/>
              </a:defRPr>
            </a:pPr>
            <a:r>
              <a:t>▶ Topological Stage Buckets: </a:t>
            </a:r>
          </a:p>
          <a:p>
            <a:pPr>
              <a:defRPr sz="1100">
                <a:solidFill>
                  <a:srgbClr val="94A3B8"/>
                </a:solidFill>
                <a:latin typeface="Arial"/>
              </a:defRPr>
            </a:pPr>
            <a:r>
              <a:t>Visual stages: Stage 1 (Foundations), Stage 2 (Core Architecture), Stage 3 (Advanced Scale).</a:t>
            </a:r>
          </a:p>
          <a:p>
            <a:br/>
            <a:pPr>
              <a:defRPr sz="1200" b="1">
                <a:solidFill>
                  <a:srgbClr val="F8FAFC"/>
                </a:solidFill>
                <a:latin typeface="Arial"/>
              </a:defRPr>
            </a:pPr>
            <a:r>
              <a:t>▶ Dynamic Role Switcher: </a:t>
            </a:r>
          </a:p>
          <a:p>
            <a:pPr>
              <a:defRPr sz="1100">
                <a:solidFill>
                  <a:srgbClr val="94A3B8"/>
                </a:solidFill>
                <a:latin typeface="Arial"/>
              </a:defRPr>
            </a:pPr>
            <a:r>
              <a:t>Switch from Full-Stack to AI Platform Engineer in 1 click; graph dynamically recalculates gaps.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Demo: Graph-Grounded Gemini AI Coach &amp; Authentic Resources</a:t>
            </a:r>
          </a:p>
        </p:txBody>
      </p:sp>
      <p:sp>
        <p:nvSpPr>
          <p:cNvPr id="5" name="Rounded Rectangle 4"/>
          <p:cNvSpPr/>
          <p:nvPr/>
        </p:nvSpPr>
        <p:spPr>
          <a:xfrm>
            <a:off x="731520" y="1645920"/>
            <a:ext cx="68580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umina_live_chat.png"/>
          <p:cNvPicPr>
            <a:picLocks noChangeAspect="1"/>
          </p:cNvPicPr>
          <p:nvPr/>
        </p:nvPicPr>
        <p:blipFill>
          <a:blip r:embed="rId2"/>
          <a:stretch>
            <a:fillRect/>
          </a:stretch>
        </p:blipFill>
        <p:spPr>
          <a:xfrm>
            <a:off x="868680" y="1783080"/>
            <a:ext cx="6583680" cy="4297680"/>
          </a:xfrm>
          <a:prstGeom prst="rect">
            <a:avLst/>
          </a:prstGeom>
        </p:spPr>
      </p:pic>
      <p:sp>
        <p:nvSpPr>
          <p:cNvPr id="7" name="Rounded Rectangle 6"/>
          <p:cNvSpPr/>
          <p:nvPr/>
        </p:nvSpPr>
        <p:spPr>
          <a:xfrm>
            <a:off x="7863840" y="1645920"/>
            <a:ext cx="3596335"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28800"/>
            <a:ext cx="3139135" cy="4114800"/>
          </a:xfrm>
          <a:prstGeom prst="rect">
            <a:avLst/>
          </a:prstGeom>
          <a:noFill/>
        </p:spPr>
        <p:txBody>
          <a:bodyPr wrap="square">
            <a:spAutoFit/>
          </a:bodyPr>
          <a:lstStyle/>
          <a:p>
            <a:pPr>
              <a:defRPr sz="1600" b="1">
                <a:solidFill>
                  <a:srgbClr val="6366F1"/>
                </a:solidFill>
                <a:latin typeface="Arial"/>
              </a:defRPr>
            </a:pPr>
            <a:r>
              <a:t>Grounded Career Intelligence</a:t>
            </a:r>
          </a:p>
          <a:p>
            <a:br/>
            <a:pPr>
              <a:defRPr sz="1200" b="1">
                <a:solidFill>
                  <a:srgbClr val="F8FAFC"/>
                </a:solidFill>
                <a:latin typeface="Arial"/>
              </a:defRPr>
            </a:pPr>
            <a:r>
              <a:t>▶ Evidence-Based Advice: </a:t>
            </a:r>
          </a:p>
          <a:p>
            <a:pPr>
              <a:defRPr sz="1100">
                <a:solidFill>
                  <a:srgbClr val="94A3B8"/>
                </a:solidFill>
                <a:latin typeface="Arial"/>
              </a:defRPr>
            </a:pPr>
            <a:r>
              <a:t>Gemini receives the exact list of missing skills and completed milestones from Neo4j.</a:t>
            </a:r>
          </a:p>
          <a:p>
            <a:br/>
            <a:pPr>
              <a:defRPr sz="1200" b="1">
                <a:solidFill>
                  <a:srgbClr val="F8FAFC"/>
                </a:solidFill>
                <a:latin typeface="Arial"/>
              </a:defRPr>
            </a:pPr>
            <a:r>
              <a:t>▶ No Generic Fluff: </a:t>
            </a:r>
          </a:p>
          <a:p>
            <a:pPr>
              <a:defRPr sz="1100">
                <a:solidFill>
                  <a:srgbClr val="94A3B8"/>
                </a:solidFill>
                <a:latin typeface="Arial"/>
              </a:defRPr>
            </a:pPr>
            <a:r>
              <a:t>Instead of 'practice coding', the coach says: 'Your top blocker is Docker. Learn container basics before touching Kubernetes.'</a:t>
            </a:r>
          </a:p>
          <a:p>
            <a:br/>
            <a:pPr>
              <a:defRPr sz="1200" b="1">
                <a:solidFill>
                  <a:srgbClr val="F8FAFC"/>
                </a:solidFill>
                <a:latin typeface="Arial"/>
              </a:defRPr>
            </a:pPr>
            <a:r>
              <a:t>▶ Curated Resource Graph: </a:t>
            </a:r>
          </a:p>
          <a:p>
            <a:pPr>
              <a:defRPr sz="1100">
                <a:solidFill>
                  <a:srgbClr val="94A3B8"/>
                </a:solidFill>
                <a:latin typeface="Arial"/>
              </a:defRPr>
            </a:pPr>
            <a:r>
              <a:t>Every skill maps directly to verified free courses (freeCodeCamp, official docs, Coursera) via (:Resource)-[:TEACHES]-&gt;(:Skill).</a:t>
            </a:r>
          </a:p>
          <a:p>
            <a:br/>
            <a:pPr>
              <a:defRPr sz="1200" b="1">
                <a:solidFill>
                  <a:srgbClr val="F8FAFC"/>
                </a:solidFill>
                <a:latin typeface="Arial"/>
              </a:defRPr>
            </a:pPr>
            <a:r>
              <a:t>▶ Honest Fallback: </a:t>
            </a:r>
          </a:p>
          <a:p>
            <a:pPr>
              <a:defRPr sz="1100">
                <a:solidFill>
                  <a:srgbClr val="94A3B8"/>
                </a:solidFill>
                <a:latin typeface="Arial"/>
              </a:defRPr>
            </a:pPr>
            <a:r>
              <a:t>If Gemini API key is unset, system falls back to deterministic graph coach with transparent UI indication.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Demo: GCC Prototype Labs &amp; Indian Tech Ecosystem Fit</a:t>
            </a:r>
          </a:p>
        </p:txBody>
      </p:sp>
      <p:sp>
        <p:nvSpPr>
          <p:cNvPr id="5" name="Rounded Rectangle 4"/>
          <p:cNvSpPr/>
          <p:nvPr/>
        </p:nvSpPr>
        <p:spPr>
          <a:xfrm>
            <a:off x="731520" y="1645920"/>
            <a:ext cx="68580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cc_prototype_lab.png"/>
          <p:cNvPicPr>
            <a:picLocks noChangeAspect="1"/>
          </p:cNvPicPr>
          <p:nvPr/>
        </p:nvPicPr>
        <p:blipFill>
          <a:blip r:embed="rId2"/>
          <a:stretch>
            <a:fillRect/>
          </a:stretch>
        </p:blipFill>
        <p:spPr>
          <a:xfrm>
            <a:off x="868680" y="1783080"/>
            <a:ext cx="6583680" cy="4297680"/>
          </a:xfrm>
          <a:prstGeom prst="rect">
            <a:avLst/>
          </a:prstGeom>
        </p:spPr>
      </p:pic>
      <p:sp>
        <p:nvSpPr>
          <p:cNvPr id="7" name="Rounded Rectangle 6"/>
          <p:cNvSpPr/>
          <p:nvPr/>
        </p:nvSpPr>
        <p:spPr>
          <a:xfrm>
            <a:off x="7863840" y="1645920"/>
            <a:ext cx="3596335"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28800"/>
            <a:ext cx="3139135" cy="4114800"/>
          </a:xfrm>
          <a:prstGeom prst="rect">
            <a:avLst/>
          </a:prstGeom>
          <a:noFill/>
        </p:spPr>
        <p:txBody>
          <a:bodyPr wrap="square">
            <a:spAutoFit/>
          </a:bodyPr>
          <a:lstStyle/>
          <a:p>
            <a:pPr>
              <a:defRPr sz="1600" b="1">
                <a:solidFill>
                  <a:srgbClr val="F59E0B"/>
                </a:solidFill>
                <a:latin typeface="Arial"/>
              </a:defRPr>
            </a:pPr>
            <a:r>
              <a:t>Ecosystem Extensions</a:t>
            </a:r>
          </a:p>
          <a:p>
            <a:br/>
            <a:pPr>
              <a:defRPr sz="1200" b="1">
                <a:solidFill>
                  <a:srgbClr val="F8FAFC"/>
                </a:solidFill>
                <a:latin typeface="Arial"/>
              </a:defRPr>
            </a:pPr>
            <a:r>
              <a:t>▶ CTC Salary Benchmarks: </a:t>
            </a:r>
          </a:p>
          <a:p>
            <a:pPr>
              <a:defRPr sz="1100">
                <a:solidFill>
                  <a:srgbClr val="94A3B8"/>
                </a:solidFill>
                <a:latin typeface="Arial"/>
              </a:defRPr>
            </a:pPr>
            <a:r>
              <a:t>Real salary ranges across Tier-1 GCCs (₹12L to ₹40L PA) based on Indian tech compensation data.</a:t>
            </a:r>
          </a:p>
          <a:p>
            <a:br/>
            <a:pPr>
              <a:defRPr sz="1200" b="1">
                <a:solidFill>
                  <a:srgbClr val="F8FAFC"/>
                </a:solidFill>
                <a:latin typeface="Arial"/>
              </a:defRPr>
            </a:pPr>
            <a:r>
              <a:t>▶ Hub Focus Targeting: </a:t>
            </a:r>
          </a:p>
          <a:p>
            <a:pPr>
              <a:defRPr sz="1100">
                <a:solidFill>
                  <a:srgbClr val="94A3B8"/>
                </a:solidFill>
                <a:latin typeface="Arial"/>
              </a:defRPr>
            </a:pPr>
            <a:r>
              <a:t>Identifies specific regional talent hubs: Bengaluru Outer Ring Road, Hyderabad HITEC City, Pune Hinjewadi.</a:t>
            </a:r>
          </a:p>
          <a:p>
            <a:br/>
            <a:pPr>
              <a:defRPr sz="1200" b="1">
                <a:solidFill>
                  <a:srgbClr val="F8FAFC"/>
                </a:solidFill>
                <a:latin typeface="Arial"/>
              </a:defRPr>
            </a:pPr>
            <a:r>
              <a:t>▶ Mock Interview Triage: </a:t>
            </a:r>
          </a:p>
          <a:p>
            <a:pPr>
              <a:defRPr sz="1100">
                <a:solidFill>
                  <a:srgbClr val="94A3B8"/>
                </a:solidFill>
                <a:latin typeface="Arial"/>
              </a:defRPr>
            </a:pPr>
            <a:r>
              <a:t>Prototype lab testing candidate preparedness for GCC architecture rounds.</a:t>
            </a:r>
          </a:p>
          <a:p>
            <a:br/>
            <a:pPr>
              <a:defRPr sz="1200" b="1">
                <a:solidFill>
                  <a:srgbClr val="F8FAFC"/>
                </a:solidFill>
                <a:latin typeface="Arial"/>
              </a:defRPr>
            </a:pPr>
            <a:r>
              <a:t>▶ Clear Prototype Labeling: </a:t>
            </a:r>
          </a:p>
          <a:p>
            <a:pPr>
              <a:defRPr sz="1100">
                <a:solidFill>
                  <a:srgbClr val="94A3B8"/>
                </a:solidFill>
                <a:latin typeface="Arial"/>
              </a:defRPr>
            </a:pPr>
            <a:r>
              <a:t>Faithfully implements Stitch prototypes with transparent 'PROTOTYPE LAB' tags so judges see honest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Enterprise Security Guardrails &amp; Test Rigor</a:t>
            </a:r>
          </a:p>
        </p:txBody>
      </p:sp>
      <p:sp>
        <p:nvSpPr>
          <p:cNvPr id="5" name="Rounded Rectangle 4"/>
          <p:cNvSpPr/>
          <p:nvPr/>
        </p:nvSpPr>
        <p:spPr>
          <a:xfrm>
            <a:off x="7315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48840" cy="4114800"/>
          </a:xfrm>
          <a:prstGeom prst="rect">
            <a:avLst/>
          </a:prstGeom>
          <a:noFill/>
        </p:spPr>
        <p:txBody>
          <a:bodyPr wrap="square">
            <a:spAutoFit/>
          </a:bodyPr>
          <a:lstStyle/>
          <a:p>
            <a:pPr>
              <a:defRPr sz="1400" b="1">
                <a:solidFill>
                  <a:srgbClr val="10B981"/>
                </a:solidFill>
                <a:latin typeface="Arial"/>
              </a:defRPr>
            </a:pPr>
            <a:r>
              <a:t>100% Parameterized Cypher</a:t>
            </a:r>
          </a:p>
          <a:p>
            <a:pPr>
              <a:defRPr sz="1200" b="1">
                <a:solidFill>
                  <a:srgbClr val="F8FAFC"/>
                </a:solidFill>
                <a:latin typeface="Arial"/>
              </a:defRPr>
            </a:pPr>
            <a:r>
              <a:t>Strict Injection Prevention</a:t>
            </a:r>
          </a:p>
          <a:p>
            <a:br/>
            <a:pPr>
              <a:defRPr sz="1100">
                <a:solidFill>
                  <a:srgbClr val="94A3B8"/>
                </a:solidFill>
                <a:latin typeface="Arial"/>
              </a:defRPr>
            </a:pPr>
            <a:r>
              <a:t>Never concatenate user input or LLM output into Cypher queries. All queries strictly use Neo4j parameter dictionaries ($params).</a:t>
            </a:r>
          </a:p>
        </p:txBody>
      </p:sp>
      <p:sp>
        <p:nvSpPr>
          <p:cNvPr id="7" name="Rounded Rectangle 6"/>
          <p:cNvSpPr/>
          <p:nvPr/>
        </p:nvSpPr>
        <p:spPr>
          <a:xfrm>
            <a:off x="34747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148840" cy="4114800"/>
          </a:xfrm>
          <a:prstGeom prst="rect">
            <a:avLst/>
          </a:prstGeom>
          <a:noFill/>
        </p:spPr>
        <p:txBody>
          <a:bodyPr wrap="square">
            <a:spAutoFit/>
          </a:bodyPr>
          <a:lstStyle/>
          <a:p>
            <a:pPr>
              <a:defRPr sz="1400" b="1">
                <a:solidFill>
                  <a:srgbClr val="06B6D4"/>
                </a:solidFill>
                <a:latin typeface="Arial"/>
              </a:defRPr>
            </a:pPr>
            <a:r>
              <a:t>No LLM Cypher Execution</a:t>
            </a:r>
          </a:p>
          <a:p>
            <a:pPr>
              <a:defRPr sz="1200" b="1">
                <a:solidFill>
                  <a:srgbClr val="F8FAFC"/>
                </a:solidFill>
                <a:latin typeface="Arial"/>
              </a:defRPr>
            </a:pPr>
            <a:r>
              <a:t>Zero Database Tampering</a:t>
            </a:r>
          </a:p>
          <a:p>
            <a:br/>
            <a:pPr>
              <a:defRPr sz="1100">
                <a:solidFill>
                  <a:srgbClr val="94A3B8"/>
                </a:solidFill>
                <a:latin typeface="Arial"/>
              </a:defRPr>
            </a:pPr>
            <a:r>
              <a:t>Gemini operates strictly as an advisory coach over graph evidence retrieved by backend services. It never writes Cypher to the DB.</a:t>
            </a:r>
          </a:p>
        </p:txBody>
      </p:sp>
      <p:sp>
        <p:nvSpPr>
          <p:cNvPr id="9" name="Rounded Rectangle 8"/>
          <p:cNvSpPr/>
          <p:nvPr/>
        </p:nvSpPr>
        <p:spPr>
          <a:xfrm>
            <a:off x="62179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2148840" cy="4114800"/>
          </a:xfrm>
          <a:prstGeom prst="rect">
            <a:avLst/>
          </a:prstGeom>
          <a:noFill/>
        </p:spPr>
        <p:txBody>
          <a:bodyPr wrap="square">
            <a:spAutoFit/>
          </a:bodyPr>
          <a:lstStyle/>
          <a:p>
            <a:pPr>
              <a:defRPr sz="1400" b="1">
                <a:solidFill>
                  <a:srgbClr val="6366F1"/>
                </a:solidFill>
                <a:latin typeface="Arial"/>
              </a:defRPr>
            </a:pPr>
            <a:r>
              <a:t>Secret Masking &amp; Safe Health</a:t>
            </a:r>
          </a:p>
          <a:p>
            <a:pPr>
              <a:defRPr sz="1200" b="1">
                <a:solidFill>
                  <a:srgbClr val="F8FAFC"/>
                </a:solidFill>
                <a:latin typeface="Arial"/>
              </a:defRPr>
            </a:pPr>
            <a:r>
              <a:t>Zero Credential Leakage</a:t>
            </a:r>
          </a:p>
          <a:p>
            <a:br/>
            <a:pPr>
              <a:defRPr sz="1100">
                <a:solidFill>
                  <a:srgbClr val="94A3B8"/>
                </a:solidFill>
                <a:latin typeface="Arial"/>
              </a:defRPr>
            </a:pPr>
            <a:r>
              <a:t>API endpoints (/api/health) and logs mask database credentials and keys. Only connection booleans and masked URIs are exposed.</a:t>
            </a:r>
          </a:p>
        </p:txBody>
      </p:sp>
      <p:sp>
        <p:nvSpPr>
          <p:cNvPr id="11" name="Rounded Rectangle 10"/>
          <p:cNvSpPr/>
          <p:nvPr/>
        </p:nvSpPr>
        <p:spPr>
          <a:xfrm>
            <a:off x="8961120" y="1645920"/>
            <a:ext cx="251460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828800"/>
            <a:ext cx="2148840" cy="4114800"/>
          </a:xfrm>
          <a:prstGeom prst="rect">
            <a:avLst/>
          </a:prstGeom>
          <a:noFill/>
        </p:spPr>
        <p:txBody>
          <a:bodyPr wrap="square">
            <a:spAutoFit/>
          </a:bodyPr>
          <a:lstStyle/>
          <a:p>
            <a:pPr>
              <a:defRPr sz="1400" b="1">
                <a:solidFill>
                  <a:srgbClr val="F59E0B"/>
                </a:solidFill>
                <a:latin typeface="Arial"/>
              </a:defRPr>
            </a:pPr>
            <a:r>
              <a:t>Honest Demo Fallback &amp; Tests</a:t>
            </a:r>
          </a:p>
          <a:p>
            <a:pPr>
              <a:defRPr sz="1200" b="1">
                <a:solidFill>
                  <a:srgbClr val="F8FAFC"/>
                </a:solidFill>
                <a:latin typeface="Arial"/>
              </a:defRPr>
            </a:pPr>
            <a:r>
              <a:t>20/20 Pytest Suite in 0.32s</a:t>
            </a:r>
          </a:p>
          <a:p>
            <a:br/>
            <a:pPr>
              <a:defRPr sz="1100">
                <a:solidFill>
                  <a:srgbClr val="94A3B8"/>
                </a:solidFill>
                <a:latin typeface="Arial"/>
              </a:defRPr>
            </a:pPr>
            <a:r>
              <a:t>Seamless in-memory graph fallback when credentials are unconfigured. Full test coverage validates topological sort, gap calculations &amp; routes.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Market Opportunity: India's $60B GCC Talent Explosion</a:t>
            </a:r>
          </a:p>
        </p:txBody>
      </p:sp>
      <p:sp>
        <p:nvSpPr>
          <p:cNvPr id="5" name="Rounded Rectangle 4"/>
          <p:cNvSpPr/>
          <p:nvPr/>
        </p:nvSpPr>
        <p:spPr>
          <a:xfrm>
            <a:off x="731520" y="1645920"/>
            <a:ext cx="338328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834640" cy="4023360"/>
          </a:xfrm>
          <a:prstGeom prst="rect">
            <a:avLst/>
          </a:prstGeom>
          <a:noFill/>
        </p:spPr>
        <p:txBody>
          <a:bodyPr wrap="square">
            <a:spAutoFit/>
          </a:bodyPr>
          <a:lstStyle/>
          <a:p>
            <a:pPr>
              <a:defRPr sz="2200" b="1">
                <a:solidFill>
                  <a:srgbClr val="06B6D4"/>
                </a:solidFill>
                <a:latin typeface="Arial"/>
              </a:defRPr>
            </a:pPr>
            <a:r>
              <a:t>$60 Billion Market</a:t>
            </a:r>
          </a:p>
          <a:p>
            <a:pPr>
              <a:defRPr sz="1500" b="1">
                <a:solidFill>
                  <a:srgbClr val="F8FAFC"/>
                </a:solidFill>
                <a:latin typeface="Arial"/>
              </a:defRPr>
            </a:pPr>
            <a:r>
              <a:t>2,200+ GCCs by 2026</a:t>
            </a:r>
          </a:p>
          <a:p>
            <a:br/>
            <a:pPr>
              <a:defRPr sz="1200">
                <a:solidFill>
                  <a:srgbClr val="94A3B8"/>
                </a:solidFill>
                <a:latin typeface="Arial"/>
              </a:defRPr>
            </a:pPr>
            <a:r>
              <a:t>NASSCOM estimates India's GCC ecosystem will grow from $46B to over $60B, employing 4.5 million high-skilled tech professionals. India is no longer back-office; it is the global engineering HQ.</a:t>
            </a:r>
          </a:p>
        </p:txBody>
      </p:sp>
      <p:sp>
        <p:nvSpPr>
          <p:cNvPr id="7" name="Rounded Rectangle 6"/>
          <p:cNvSpPr/>
          <p:nvPr/>
        </p:nvSpPr>
        <p:spPr>
          <a:xfrm>
            <a:off x="4389120" y="1645920"/>
            <a:ext cx="338328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920240"/>
            <a:ext cx="2834640" cy="4023360"/>
          </a:xfrm>
          <a:prstGeom prst="rect">
            <a:avLst/>
          </a:prstGeom>
          <a:noFill/>
        </p:spPr>
        <p:txBody>
          <a:bodyPr wrap="square">
            <a:spAutoFit/>
          </a:bodyPr>
          <a:lstStyle/>
          <a:p>
            <a:pPr>
              <a:defRPr sz="2200" b="1">
                <a:solidFill>
                  <a:srgbClr val="10B981"/>
                </a:solidFill>
                <a:latin typeface="Arial"/>
              </a:defRPr>
            </a:pPr>
            <a:r>
              <a:t>Bridging Tier-2/3 to Tier-1</a:t>
            </a:r>
          </a:p>
          <a:p>
            <a:pPr>
              <a:defRPr sz="1500" b="1">
                <a:solidFill>
                  <a:srgbClr val="F8FAFC"/>
                </a:solidFill>
                <a:latin typeface="Arial"/>
              </a:defRPr>
            </a:pPr>
            <a:r>
              <a:t>Democratizing Opportunity</a:t>
            </a:r>
          </a:p>
          <a:p>
            <a:br/>
            <a:pPr>
              <a:defRPr sz="1200">
                <a:solidFill>
                  <a:srgbClr val="94A3B8"/>
                </a:solidFill>
                <a:latin typeface="Arial"/>
              </a:defRPr>
            </a:pPr>
            <a:r>
              <a:t>Talent from non-metro engineering colleges (Jaipur, Indore, Coimbatore, Kochi) lack mentorship on prerequisite learning. SkillRoute India levels the playing field with algorithmic clarity.</a:t>
            </a:r>
          </a:p>
        </p:txBody>
      </p:sp>
      <p:sp>
        <p:nvSpPr>
          <p:cNvPr id="9" name="Rounded Rectangle 8"/>
          <p:cNvSpPr/>
          <p:nvPr/>
        </p:nvSpPr>
        <p:spPr>
          <a:xfrm>
            <a:off x="8046720" y="1645920"/>
            <a:ext cx="3383280"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20240"/>
            <a:ext cx="2834640" cy="4023360"/>
          </a:xfrm>
          <a:prstGeom prst="rect">
            <a:avLst/>
          </a:prstGeom>
          <a:noFill/>
        </p:spPr>
        <p:txBody>
          <a:bodyPr wrap="square">
            <a:spAutoFit/>
          </a:bodyPr>
          <a:lstStyle/>
          <a:p>
            <a:pPr>
              <a:defRPr sz="2200" b="1">
                <a:solidFill>
                  <a:srgbClr val="6366F1"/>
                </a:solidFill>
                <a:latin typeface="Arial"/>
              </a:defRPr>
            </a:pPr>
            <a:r>
              <a:t>B2C + B2B Business Model</a:t>
            </a:r>
          </a:p>
          <a:p>
            <a:pPr>
              <a:defRPr sz="1500" b="1">
                <a:solidFill>
                  <a:srgbClr val="F8FAFC"/>
                </a:solidFill>
                <a:latin typeface="Arial"/>
              </a:defRPr>
            </a:pPr>
            <a:r>
              <a:t>Dual Revenue Engine</a:t>
            </a:r>
          </a:p>
          <a:p>
            <a:br/>
            <a:pPr>
              <a:defRPr sz="1200">
                <a:solidFill>
                  <a:srgbClr val="94A3B8"/>
                </a:solidFill>
                <a:latin typeface="Arial"/>
              </a:defRPr>
            </a:pPr>
            <a:r>
              <a:t>• B2C: Free prerequisite roadmaps with premium AI interview simulations &amp; mock evaluations.</a:t>
            </a:r>
            <a:br/>
            <a:r>
              <a:t>• B2B: GCC Talent Pipeline subscription — hiring teams source candidates with verified prerequisite mastery.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6B6D4"/>
                </a:solidFill>
                <a:latin typeface="Arial"/>
              </a:defRPr>
            </a:pPr>
            <a:r>
              <a:t>SKILLROUTE INDIA  •  HACKATHON PRESENTATION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latin typeface="Arial"/>
              </a:defRPr>
            </a:pPr>
            <a:r>
              <a:t>Summary, Live Deployment Links &amp; Q&amp;A</a:t>
            </a:r>
          </a:p>
        </p:txBody>
      </p:sp>
      <p:sp>
        <p:nvSpPr>
          <p:cNvPr id="5" name="Rounded Rectangle 4"/>
          <p:cNvSpPr/>
          <p:nvPr/>
        </p:nvSpPr>
        <p:spPr>
          <a:xfrm>
            <a:off x="731520" y="1645920"/>
            <a:ext cx="10728655" cy="4572000"/>
          </a:xfrm>
          <a:prstGeom prst="roundRect">
            <a:avLst/>
          </a:prstGeom>
          <a:solidFill>
            <a:srgbClr val="131C31"/>
          </a:solidFill>
          <a:ln w="15240">
            <a:solidFill>
              <a:srgbClr val="233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5486400" cy="4023360"/>
          </a:xfrm>
          <a:prstGeom prst="rect">
            <a:avLst/>
          </a:prstGeom>
          <a:noFill/>
        </p:spPr>
        <p:txBody>
          <a:bodyPr wrap="square">
            <a:spAutoFit/>
          </a:bodyPr>
          <a:lstStyle/>
          <a:p>
            <a:pPr>
              <a:defRPr sz="2000" b="1">
                <a:solidFill>
                  <a:srgbClr val="10B981"/>
                </a:solidFill>
                <a:latin typeface="Arial"/>
              </a:defRPr>
            </a:pPr>
            <a:r>
              <a:t>Why SkillRoute India Stands Out:</a:t>
            </a:r>
          </a:p>
          <a:p>
            <a:br/>
            <a:pPr>
              <a:defRPr sz="1300">
                <a:solidFill>
                  <a:srgbClr val="F8FAFC"/>
                </a:solidFill>
                <a:latin typeface="Arial"/>
              </a:defRPr>
            </a:pPr>
            <a:r>
              <a:t>✔ Real Problem, Real Scale: Targets India's 1.5M engineers &amp; $60B GCC boom.</a:t>
            </a:r>
          </a:p>
          <a:p>
            <a:br/>
            <a:pPr>
              <a:defRPr sz="1300">
                <a:solidFill>
                  <a:srgbClr val="F8FAFC"/>
                </a:solidFill>
                <a:latin typeface="Arial"/>
              </a:defRPr>
            </a:pPr>
            <a:r>
              <a:t>✔ Deterministic Graph Truth: Neo4j Cypher eliminates LLM hallucinations.</a:t>
            </a:r>
          </a:p>
          <a:p>
            <a:br/>
            <a:pPr>
              <a:defRPr sz="1300">
                <a:solidFill>
                  <a:srgbClr val="F8FAFC"/>
                </a:solidFill>
                <a:latin typeface="Arial"/>
              </a:defRPr>
            </a:pPr>
            <a:r>
              <a:t>✔ Production Deployed: Live on Render, connected to Neo4j AuraDB &amp; Gemini.</a:t>
            </a:r>
          </a:p>
          <a:p>
            <a:br/>
            <a:pPr>
              <a:defRPr sz="1300">
                <a:solidFill>
                  <a:srgbClr val="F8FAFC"/>
                </a:solidFill>
                <a:latin typeface="Arial"/>
              </a:defRPr>
            </a:pPr>
            <a:r>
              <a:t>✔ Enterprise Engineering: 20/20 pytest tests, 0.32s test execution, honest fallbacks.</a:t>
            </a:r>
          </a:p>
        </p:txBody>
      </p:sp>
      <p:sp>
        <p:nvSpPr>
          <p:cNvPr id="7" name="Rounded Rectangle 6"/>
          <p:cNvSpPr/>
          <p:nvPr/>
        </p:nvSpPr>
        <p:spPr>
          <a:xfrm>
            <a:off x="6858000" y="2011680"/>
            <a:ext cx="4206240" cy="3840480"/>
          </a:xfrm>
          <a:prstGeom prst="roundRect">
            <a:avLst/>
          </a:prstGeom>
          <a:solidFill>
            <a:srgbClr val="0F17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2194560"/>
            <a:ext cx="3657600" cy="3474720"/>
          </a:xfrm>
          <a:prstGeom prst="rect">
            <a:avLst/>
          </a:prstGeom>
          <a:noFill/>
        </p:spPr>
        <p:txBody>
          <a:bodyPr wrap="square">
            <a:spAutoFit/>
          </a:bodyPr>
          <a:lstStyle/>
          <a:p>
            <a:pPr>
              <a:defRPr sz="1400" b="1">
                <a:solidFill>
                  <a:srgbClr val="06B6D4"/>
                </a:solidFill>
                <a:latin typeface="Arial"/>
              </a:defRPr>
            </a:pPr>
            <a:r>
              <a:t>PROJECT LINKS &amp; ACCESS</a:t>
            </a:r>
          </a:p>
          <a:p>
            <a:br/>
            <a:pPr>
              <a:defRPr sz="1100" b="1">
                <a:solidFill>
                  <a:srgbClr val="F59E0B"/>
                </a:solidFill>
                <a:latin typeface="Arial"/>
              </a:defRPr>
            </a:pPr>
            <a:r>
              <a:t>Live Web App:</a:t>
            </a:r>
          </a:p>
          <a:p>
            <a:pPr>
              <a:defRPr sz="1200">
                <a:solidFill>
                  <a:srgbClr val="F8FAFC"/>
                </a:solidFill>
                <a:latin typeface="Arial"/>
              </a:defRPr>
            </a:pPr>
            <a:r>
              <a:t>https://skill-route-india.onrender.com</a:t>
            </a:r>
          </a:p>
          <a:p>
            <a:br/>
            <a:pPr>
              <a:defRPr sz="1100" b="1">
                <a:solidFill>
                  <a:srgbClr val="F59E0B"/>
                </a:solidFill>
                <a:latin typeface="Arial"/>
              </a:defRPr>
            </a:pPr>
            <a:r>
              <a:t>GitHub Repository:</a:t>
            </a:r>
          </a:p>
          <a:p>
            <a:pPr>
              <a:defRPr sz="1200">
                <a:solidFill>
                  <a:srgbClr val="F8FAFC"/>
                </a:solidFill>
                <a:latin typeface="Arial"/>
              </a:defRPr>
            </a:pPr>
            <a:r>
              <a:t>https://github.com/nitish11930/skill-route-india-</a:t>
            </a:r>
          </a:p>
          <a:p>
            <a:br/>
            <a:pPr>
              <a:defRPr sz="1100" b="1">
                <a:solidFill>
                  <a:srgbClr val="F59E0B"/>
                </a:solidFill>
                <a:latin typeface="Arial"/>
              </a:defRPr>
            </a:pPr>
            <a:r>
              <a:t>Health Endpoint:</a:t>
            </a:r>
          </a:p>
          <a:p>
            <a:pPr>
              <a:defRPr sz="1200">
                <a:solidFill>
                  <a:srgbClr val="F8FAFC"/>
                </a:solidFill>
                <a:latin typeface="Arial"/>
              </a:defRPr>
            </a:pPr>
            <a:r>
              <a:t>/api/health (Live verification)</a:t>
            </a:r>
          </a:p>
          <a:p>
            <a:br/>
            <a:pPr>
              <a:defRPr sz="1100" b="1">
                <a:solidFill>
                  <a:srgbClr val="F59E0B"/>
                </a:solidFill>
                <a:latin typeface="Arial"/>
              </a:defRPr>
            </a:pPr>
            <a:r>
              <a:t>Local One-Command Run:</a:t>
            </a:r>
          </a:p>
          <a:p>
            <a:pPr>
              <a:defRPr sz="1200">
                <a:solidFill>
                  <a:srgbClr val="F8FAFC"/>
                </a:solidFill>
                <a:latin typeface="Arial"/>
              </a:defRPr>
            </a:pPr>
            <a:r>
              <a:t>./start.sh (Port 8000 + 5173)</a:t>
            </a:r>
          </a:p>
          <a:p>
            <a:br/>
            <a:pPr>
              <a:defRPr sz="1300" b="1">
                <a:solidFill>
                  <a:srgbClr val="10B981"/>
                </a:solidFill>
                <a:latin typeface="Arial"/>
              </a:defRPr>
            </a:pPr>
            <a:r>
              <a:t>Thank You! We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